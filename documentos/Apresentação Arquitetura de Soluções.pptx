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45461" y="428625"/>
            <a:ext cx="1884164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1039081"/>
            <a:ext cx="6429375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DEFESA DE </a:t>
            </a: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ARQUITETURA:</a:t>
            </a: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SISTEMA DE FLUXO DE </a:t>
            </a: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CAIXA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3193591"/>
            <a:ext cx="8429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6394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Microsserviços, Resiliência e Conformidade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4375" y="3757947"/>
            <a:ext cx="8429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Arquiteto de Soluções Sênior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4375" y="3931183"/>
            <a:ext cx="8429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Maio,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634" y="428625"/>
            <a:ext cx="2210991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PROBLEMA DE NEGÓCIO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62720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8719" y="1700213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Visibilidade Financeira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78719" y="2050256"/>
            <a:ext cx="317896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Dificuldade em consolidar saldos diários em tempo real para tomada de decisão ágil.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762720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50656" y="1700213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Erros Manuais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250656" y="2050256"/>
            <a:ext cx="317896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Processos baseados em planilhas e cadernos sujeitos a falhas críticas e retrabalho.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184327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78719" y="3121819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Escalabilidade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178719" y="3471863"/>
            <a:ext cx="3178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Sistemas legados que não suportam picos de transações em datas comemorativas.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184327"/>
            <a:ext cx="285750" cy="285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0656" y="3121819"/>
            <a:ext cx="31789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Decisão Lenta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5250656" y="3471863"/>
            <a:ext cx="3178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Atraso na consolidação impede a gestão eficiente de compras, preços e crédito.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705" y="428625"/>
            <a:ext cx="221992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SUMÁRIO EXECUTIVO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1714500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MICROSSERVIÇOS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4375" y="2064544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Separação física entre Lançamentos e Relatórios para escalabilidade independente.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357563" y="1714500"/>
            <a:ext cx="24288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CLEAN ARCHITECTURE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57563" y="230743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Código testável e desacoplado, garantindo longevidade e facilidade de manutenção.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00750" y="1714500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CQRS LÓGICO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00750" y="2064544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Otimização de modelos de escrita e leitura para máxima eficiência transacional.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4375" y="3218957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RESILIÊNCIA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4375" y="356900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Mensageria com RabbitMQ e DLQ para garantir que nenhum dado seja perdido.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57563" y="3218957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57563" y="356900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Cache Redis distribuído para entregas de relatórios com latência mínima.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00750" y="3218957"/>
            <a:ext cx="2428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CONFORMIDADE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00750" y="3569001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Arquitetura desenhada sob as diretrizes do BACEN e conformidade LGPD.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2181" y="428625"/>
            <a:ext cx="2407444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REQUISITOS CRÍTICOS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14375" y="1557338"/>
            <a:ext cx="1964503" cy="458986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557338"/>
            <a:ext cx="1964503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CATEGORIA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78878" y="1557338"/>
            <a:ext cx="3926691" cy="458986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8" name="Text 5"/>
          <p:cNvSpPr/>
          <p:nvPr/>
        </p:nvSpPr>
        <p:spPr>
          <a:xfrm>
            <a:off x="2678878" y="1557338"/>
            <a:ext cx="3926691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MÉTRICA (SLO)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5569" y="1557338"/>
            <a:ext cx="1824056" cy="458986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0" name="Text 7"/>
          <p:cNvSpPr/>
          <p:nvPr/>
        </p:nvSpPr>
        <p:spPr>
          <a:xfrm>
            <a:off x="6605569" y="1557338"/>
            <a:ext cx="1824056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META (SLA)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4375" y="2016323"/>
            <a:ext cx="1964503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Disponibilidade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78878" y="2016323"/>
            <a:ext cx="3926691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Uptime Mensal (Lançamentos)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05569" y="2016323"/>
            <a:ext cx="1824056" cy="46255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99,9%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4375" y="2478881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78878" y="2478881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Requisições por Segundo (Relatórios)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05569" y="2478881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≥ 50 req/s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14375" y="2945011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Latência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78878" y="2945011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p95 Response Time (Lançamentos)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605569" y="2945011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&lt; 200 ms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4375" y="3411141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78878" y="3411141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p95 Relatório (com Cache Redis)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605569" y="3411141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&lt; 100 ms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4375" y="3877270"/>
            <a:ext cx="196450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78878" y="3877270"/>
            <a:ext cx="392669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Conformidade Regulatória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605569" y="3877270"/>
            <a:ext cx="1824056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BACEN / LGPD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2916" y="428625"/>
            <a:ext cx="2246709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DESENHO LÓGICO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14375" y="1557338"/>
            <a:ext cx="7715250" cy="771525"/>
          </a:xfrm>
          <a:prstGeom prst="rect">
            <a:avLst/>
          </a:prstGeom>
          <a:solidFill>
            <a:srgbClr val="FFFFFF"/>
          </a:solidFill>
          <a:ln w="18288">
            <a:solidFill>
              <a:srgbClr val="2125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7250" y="1719858"/>
            <a:ext cx="178593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BORDA &amp; SEGURANÇA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695" y="1700213"/>
            <a:ext cx="941189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56695" y="2000250"/>
            <a:ext cx="94118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NGINX + WAF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023" y="1700213"/>
            <a:ext cx="1405533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2023" y="2000250"/>
            <a:ext cx="14055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API Gateway (YARP)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991" y="2387798"/>
            <a:ext cx="150019" cy="1714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14375" y="2652117"/>
            <a:ext cx="7715250" cy="771525"/>
          </a:xfrm>
          <a:prstGeom prst="rect">
            <a:avLst/>
          </a:prstGeom>
          <a:solidFill>
            <a:srgbClr val="FFFFFF"/>
          </a:solidFill>
          <a:ln w="18288">
            <a:solidFill>
              <a:srgbClr val="212529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57250" y="2919115"/>
            <a:ext cx="178593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MICROSSERVIÇOS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206" y="2794992"/>
            <a:ext cx="944761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249206" y="3095030"/>
            <a:ext cx="94476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Lançamentos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130" y="2794992"/>
            <a:ext cx="709017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63130" y="3095030"/>
            <a:ext cx="7090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Relatórios</a:t>
            </a:r>
            <a:endParaRPr lang="en-US" sz="9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310" y="2794992"/>
            <a:ext cx="853678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041310" y="3095030"/>
            <a:ext cx="8536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Worker DLQ</a:t>
            </a:r>
            <a:endParaRPr lang="en-US" sz="9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275" y="3482578"/>
            <a:ext cx="171450" cy="17145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714375" y="3746897"/>
            <a:ext cx="7715250" cy="771525"/>
          </a:xfrm>
          <a:prstGeom prst="rect">
            <a:avLst/>
          </a:prstGeom>
          <a:solidFill>
            <a:srgbClr val="FFFFFF"/>
          </a:solidFill>
          <a:ln w="18288">
            <a:solidFill>
              <a:srgbClr val="212529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857250" y="3909417"/>
            <a:ext cx="178593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INTEGRAÇÃO &amp; DADOS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1939" y="3889772"/>
            <a:ext cx="689372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3281939" y="4189809"/>
            <a:ext cx="6893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RabbitMQ</a:t>
            </a:r>
            <a:endParaRPr lang="en-US" sz="9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5967" y="3889772"/>
            <a:ext cx="762595" cy="228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05967" y="4189809"/>
            <a:ext cx="7625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Server</a:t>
            </a:r>
            <a:endParaRPr lang="en-US" sz="9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3219" y="3889772"/>
            <a:ext cx="859036" cy="2286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7003219" y="4189809"/>
            <a:ext cx="8590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Redis Cache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9692" y="428625"/>
            <a:ext cx="2319933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06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COMPLIANCE E GOVERNANÇA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1700213"/>
            <a:ext cx="2607469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NORMATIVAS BACEN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8422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2278856"/>
            <a:ext cx="3293269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Alta Disponibilidade em Sistemas Críticos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849463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35844" y="2839641"/>
            <a:ext cx="262354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Isolamento de Falhas (Bulkhead)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219152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2981" y="3209330"/>
            <a:ext cx="285214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Rastreabilidade Total de Transações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588841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2981" y="3579019"/>
            <a:ext cx="270033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Integridade de Dados Financeiros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4857750" y="1700213"/>
            <a:ext cx="2193131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DIRETRIZES LGPD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288679"/>
            <a:ext cx="214313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79219" y="2278856"/>
            <a:ext cx="262175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Privacy by Design na Arquitetura</a:t>
            </a:r>
            <a:endParaRPr lang="en-US" sz="11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2658368"/>
            <a:ext cx="150019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14925" y="2648545"/>
            <a:ext cx="287535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Criptografia de Dados Sensíveis (PII)</a:t>
            </a:r>
            <a:endParaRPr lang="en-US" sz="11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3028057"/>
            <a:ext cx="214313" cy="1714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179219" y="3018234"/>
            <a:ext cx="28717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Controle de Acesso Granular (RBAC)</a:t>
            </a:r>
            <a:endParaRPr lang="en-US" sz="11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397746"/>
            <a:ext cx="150019" cy="17145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114925" y="3387923"/>
            <a:ext cx="260211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Gestão de Ciclo de Vida do Dado</a:t>
            </a:r>
            <a:endParaRPr lang="en-US" sz="1150" dirty="0"/>
          </a:p>
        </p:txBody>
      </p:sp>
      <p:sp>
        <p:nvSpPr>
          <p:cNvPr id="23" name="Text 12"/>
          <p:cNvSpPr/>
          <p:nvPr/>
        </p:nvSpPr>
        <p:spPr>
          <a:xfrm>
            <a:off x="714375" y="4234458"/>
            <a:ext cx="7715250" cy="3143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212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arquitetura foi concebida para não apenas atender, mas exceder os requisitos regulatórios, garantindo segurança jurídica e operacional."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8267" y="428625"/>
            <a:ext cx="2291358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07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ESTRATÉGIAS DE RESILIÊNCIA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6807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1588" y="1700213"/>
            <a:ext cx="3086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ISOLAMENTO DE CONTEXTOS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271588" y="2364581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Falhas no serviço de Relatórios não impactam a capacidade crítica de registro de Lançamentos.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768078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43525" y="1700213"/>
            <a:ext cx="3086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TOLERÂNCIA A FALHAS (DLQ)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343525" y="2364581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Uso de Dead Letter Queues para garantir que mensagens não processadas sejam retidas para análise e reprocessamento.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546872"/>
            <a:ext cx="300038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28725" y="3479006"/>
            <a:ext cx="31289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ELASTICIDADE HORIZONTAL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228725" y="4143375"/>
            <a:ext cx="31289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Autoscaling via KEDA baseado na carga de mensagens e CPU, garantindo performance sob demanda.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546872"/>
            <a:ext cx="257175" cy="342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7800" y="3479006"/>
            <a:ext cx="31718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CIRCUIT BREAKER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5257800" y="3864769"/>
            <a:ext cx="3171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Proteção ativa no API Gateway para evitar falhas em cascata e degradação total do ecossistema.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1117" y="428625"/>
            <a:ext cx="2348508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08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DADOS E PERFORMANCE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32359"/>
            <a:ext cx="300038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2260997"/>
            <a:ext cx="23812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CQRS &amp; SQL SERVER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14375" y="2611041"/>
            <a:ext cx="23812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Separação de modelos de escrita e leitura. Uso de UPSERT atômico para garantir consistência do consolidado diário.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714375" y="3541068"/>
            <a:ext cx="1307306" cy="192881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3541068"/>
            <a:ext cx="1307306" cy="192881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WRITE/READ MODEL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66" y="1732359"/>
            <a:ext cx="257175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1366" y="2260997"/>
            <a:ext cx="23812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REDIS CACHE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81366" y="2611041"/>
            <a:ext cx="23812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Cache distribuído com TTL inteligente para relatórios, reduzindo a carga no banco e garantindo p95 &lt; 100ms.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381366" y="3541068"/>
            <a:ext cx="1301948" cy="192881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4" name="Text 9"/>
          <p:cNvSpPr/>
          <p:nvPr/>
        </p:nvSpPr>
        <p:spPr>
          <a:xfrm>
            <a:off x="3381366" y="3541068"/>
            <a:ext cx="1301948" cy="192881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DISTRIBUTED CACHE</a:t>
            </a:r>
            <a:endParaRPr lang="en-US" sz="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56" y="1732359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48356" y="2260997"/>
            <a:ext cx="238126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DAPPER MICRO-ORM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048356" y="2611041"/>
            <a:ext cx="238126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Acesso a dados de alta performance, evitando o overhead de ORMs pesados em consultas críticas.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048356" y="3541068"/>
            <a:ext cx="1207294" cy="192881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9" name="Text 13"/>
          <p:cNvSpPr/>
          <p:nvPr/>
        </p:nvSpPr>
        <p:spPr>
          <a:xfrm>
            <a:off x="6048356" y="3541068"/>
            <a:ext cx="1207294" cy="192881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MAX THROUGHPUT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9692" y="428625"/>
            <a:ext cx="2319933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09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OBSERVABILIDADE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012389"/>
            <a:ext cx="257175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878" y="1843088"/>
            <a:ext cx="33075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LOGS ESTRUTURADOS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85878" y="2087761"/>
            <a:ext cx="33075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Rastreabilidade via Correlation ID entre microsserviços para depuração rápida.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748" y="2012389"/>
            <a:ext cx="257175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36077" y="1843088"/>
            <a:ext cx="329354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MÉTRICAS (SLO)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36077" y="2087761"/>
            <a:ext cx="329354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Monitoramento de throughput, taxas de erro e latência via OpenTelemetry.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32" y="3274321"/>
            <a:ext cx="289322" cy="2571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21039" y="3105020"/>
            <a:ext cx="327236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TRACES DISTRIBUÍDOS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121039" y="3349693"/>
            <a:ext cx="327236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Visibilidade total do ciclo de vida da requisição em todo o ecossistema.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805" y="3274321"/>
            <a:ext cx="289322" cy="2571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44337" y="3105020"/>
            <a:ext cx="32852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144337" y="3349693"/>
            <a:ext cx="32852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Liveness e Readiness probes para orquestração inteligente de containers.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7602" y="428625"/>
            <a:ext cx="1902023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RISCOS E MITIGAÇÃO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14375" y="1557338"/>
            <a:ext cx="2814638" cy="442913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557338"/>
            <a:ext cx="2814638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RISCO IDENTIFICADO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29013" y="1557338"/>
            <a:ext cx="4900613" cy="442913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8" name="Text 5"/>
          <p:cNvSpPr/>
          <p:nvPr/>
        </p:nvSpPr>
        <p:spPr>
          <a:xfrm>
            <a:off x="3529013" y="1557338"/>
            <a:ext cx="4900613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8F9F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ESTRATÉGIA DE MITIGAÇÃO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81" y="2159198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4438" y="2000250"/>
            <a:ext cx="2314575" cy="6750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Inconsistência Eventual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29013" y="2000250"/>
            <a:ext cx="4900613" cy="6750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Implementação de UPSERT atômico no banco de dados e futura adoção do Outbox Pattern para garantir entrega "at-least-once".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66" y="2837855"/>
            <a:ext cx="192881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4438" y="2675334"/>
            <a:ext cx="231457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Saturação do Banco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529013" y="2675334"/>
            <a:ext cx="490061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Uso intensivo de Cache Redis para leituras e escalabilidade vertical/horizontal do SQL Server conforme demanda.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66" y="3516511"/>
            <a:ext cx="192881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4438" y="3353991"/>
            <a:ext cx="231457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Complexidade Distribuída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529013" y="3353991"/>
            <a:ext cx="490061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Adoção de Clean Architecture estrita, padronização de contratos via Swagger e automação completa de CI/CD.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195167"/>
            <a:ext cx="214313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4438" y="4032647"/>
            <a:ext cx="231457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Vazamento de Dados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3529013" y="4032647"/>
            <a:ext cx="490061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Implementação de WAF na borda, OAuth2/JWT no Gateway e criptografia de dados sensíveis em repouso (TDE).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97303" y="428625"/>
            <a:ext cx="1432322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212529">
                    <a:alpha val="5000"/>
                  </a:srgbClr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11</a:t>
            </a:r>
            <a:endParaRPr lang="en-US" sz="12450" dirty="0"/>
          </a:p>
        </p:txBody>
      </p:sp>
      <p:sp>
        <p:nvSpPr>
          <p:cNvPr id="4" name="Text 1"/>
          <p:cNvSpPr/>
          <p:nvPr/>
        </p:nvSpPr>
        <p:spPr>
          <a:xfrm>
            <a:off x="714375" y="714375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CONCLUSÃO E ROADMAP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1557338"/>
            <a:ext cx="1903809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ESTADO ATUAL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4580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2135981"/>
            <a:ext cx="236993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Arquitetura de Microsserviços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479774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2981" y="2469952"/>
            <a:ext cx="252353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Resiliência com RabbitMQ/DLQ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813745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2981" y="2803922"/>
            <a:ext cx="246102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Performance com Redis Cache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147715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2981" y="3137892"/>
            <a:ext cx="272355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Clean Architecture Implementada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4786313" y="1557338"/>
            <a:ext cx="2394942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PRÓXIMOS PASSOS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145804"/>
            <a:ext cx="150019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43488" y="2135981"/>
            <a:ext cx="242173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OAuth2/JWT &amp; WAF Completo</a:t>
            </a:r>
            <a:endParaRPr lang="en-US" sz="11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479774"/>
            <a:ext cx="150019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43488" y="2469952"/>
            <a:ext cx="269855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Observabilidade (OpenTelemetry)</a:t>
            </a:r>
            <a:endParaRPr lang="en-US" sz="11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813745"/>
            <a:ext cx="150019" cy="1714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043488" y="2803922"/>
            <a:ext cx="246102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Integração com Open Banking</a:t>
            </a:r>
            <a:endParaRPr lang="en-US" sz="11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147715"/>
            <a:ext cx="150019" cy="17145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043488" y="3137892"/>
            <a:ext cx="198774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Predição de Fluxo via ML</a:t>
            </a:r>
            <a:endParaRPr lang="en-US" sz="1150" dirty="0"/>
          </a:p>
        </p:txBody>
      </p:sp>
      <p:sp>
        <p:nvSpPr>
          <p:cNvPr id="23" name="Text 12"/>
          <p:cNvSpPr/>
          <p:nvPr/>
        </p:nvSpPr>
        <p:spPr>
          <a:xfrm>
            <a:off x="714375" y="3757613"/>
            <a:ext cx="77152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solução entrega uma base sólida, escalável e pronta para os desafios do mercado financeiro moderno.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2026-05-06T17:22:17Z</dcterms:created>
  <dcterms:modified xsi:type="dcterms:W3CDTF">2026-05-06T17:22:17Z</dcterms:modified>
</cp:coreProperties>
</file>